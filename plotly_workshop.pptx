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Sepal Width vs Length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versicolor</c:v>
                </c:pt>
              </c:strCache>
            </c:strRef>
          </c:tx>
          <c:spPr>
            <a:solidFill>
              <a:srgbClr val="00D4FF"/>
            </a:solidFill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3.5</c:v>
                </c:pt>
                <c:pt idx="1">
                  <c:v>3</c:v>
                </c:pt>
                <c:pt idx="2">
                  <c:v>3.2</c:v>
                </c:pt>
                <c:pt idx="3">
                  <c:v>3.1</c:v>
                </c:pt>
                <c:pt idx="4">
                  <c:v>3.6</c:v>
                </c:pt>
                <c:pt idx="5">
                  <c:v>3.9</c:v>
                </c:pt>
                <c:pt idx="6">
                  <c:v>3.4</c:v>
                </c:pt>
                <c:pt idx="7">
                  <c:v>3.4</c:v>
                </c:pt>
                <c:pt idx="8">
                  <c:v>2.9</c:v>
                </c:pt>
                <c:pt idx="9">
                  <c:v>3.1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3.2</c:v>
                </c:pt>
                <c:pt idx="1">
                  <c:v>3.2</c:v>
                </c:pt>
                <c:pt idx="2">
                  <c:v>3.1</c:v>
                </c:pt>
                <c:pt idx="3">
                  <c:v>2.3</c:v>
                </c:pt>
                <c:pt idx="4">
                  <c:v>2.8</c:v>
                </c:pt>
                <c:pt idx="5">
                  <c:v>2.8</c:v>
                </c:pt>
                <c:pt idx="6">
                  <c:v>3.3</c:v>
                </c:pt>
                <c:pt idx="7">
                  <c:v>2.4</c:v>
                </c:pt>
                <c:pt idx="8">
                  <c:v>2.9</c:v>
                </c:pt>
                <c:pt idx="9">
                  <c:v>2.7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virginica</c:v>
                </c:pt>
              </c:strCache>
            </c:strRef>
          </c:tx>
          <c:spPr>
            <a:solidFill>
              <a:srgbClr val="9B59D4"/>
            </a:solidFill>
            <a:ln w="25400" cap="flat">
              <a:solidFill>
                <a:srgbClr val="9B59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59D4"/>
              </a:solidFill>
              <a:ln w="9525" cap="flat">
                <a:solidFill>
                  <a:srgbClr val="9B59D4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3.5</c:v>
                </c:pt>
                <c:pt idx="1">
                  <c:v>3</c:v>
                </c:pt>
                <c:pt idx="2">
                  <c:v>3.2</c:v>
                </c:pt>
                <c:pt idx="3">
                  <c:v>3.1</c:v>
                </c:pt>
                <c:pt idx="4">
                  <c:v>3.6</c:v>
                </c:pt>
                <c:pt idx="5">
                  <c:v>3.9</c:v>
                </c:pt>
                <c:pt idx="6">
                  <c:v>3.4</c:v>
                </c:pt>
                <c:pt idx="7">
                  <c:v>3.4</c:v>
                </c:pt>
                <c:pt idx="8">
                  <c:v>2.9</c:v>
                </c:pt>
                <c:pt idx="9">
                  <c:v>3.1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3.3</c:v>
                </c:pt>
                <c:pt idx="1">
                  <c:v>2.7</c:v>
                </c:pt>
                <c:pt idx="2">
                  <c:v>3</c:v>
                </c:pt>
                <c:pt idx="3">
                  <c:v>2.9</c:v>
                </c:pt>
                <c:pt idx="4">
                  <c:v>3</c:v>
                </c:pt>
                <c:pt idx="5">
                  <c:v>3</c:v>
                </c:pt>
                <c:pt idx="6">
                  <c:v>2.5</c:v>
                </c:pt>
                <c:pt idx="7">
                  <c:v>2.9</c:v>
                </c:pt>
                <c:pt idx="8">
                  <c:v>2.5</c:v>
                </c:pt>
                <c:pt idx="9">
                  <c:v>3.6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8D6E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Petal Length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59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setosa</c:v>
                  </c:pt>
                  <c:pt idx="1">
                    <c:v>versicolor</c:v>
                  </c:pt>
                  <c:pt idx="2">
                    <c:v>virginica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1.46</c:v>
                </c:pt>
                <c:pt idx="1">
                  <c:v>4.26</c:v>
                </c:pt>
                <c:pt idx="2">
                  <c:v>5.55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Species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bubble3D val="0"/>
            <c:spPr>
              <a:solidFill>
                <a:srgbClr val="9B59D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setosa (33%)</c:v>
                </c:pt>
                <c:pt idx="1">
                  <c:v>versicolor (33%)</c:v>
                </c:pt>
                <c:pt idx="2">
                  <c:v>virginica (33%)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</c:ser>
        <c:firstSliceAng val="0"/>
      </c:pieChart>
      <c:spPr>
        <a:solidFill>
          <a:srgbClr val="111827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C8D6E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6B2FA0">
              <a:alpha val="20000"/>
            </a:srgbClr>
          </a:solidFill>
          <a:ln w="12700">
            <a:solidFill>
              <a:srgbClr val="9B59D4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-548640"/>
            <a:ext cx="2377440" cy="237744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6B2FA0">
              <a:alpha val="18000"/>
            </a:srgbClr>
          </a:solidFill>
          <a:ln w="12700">
            <a:solidFill>
              <a:srgbClr val="9B59D4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188720"/>
            <a:ext cx="54864" cy="2743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118872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6B2FA0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DATA SCIENCE CLUB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6E5"/>
                </a:solidFill>
              </a:rPr>
              <a:t>WORKSHOP · 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1965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Data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40080" y="2578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640080" y="32004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Plotly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D6E5"/>
                </a:solidFill>
              </a:rPr>
              <a:t>Build beautiful, interactive charts with just a few lines of Python</a:t>
            </a:r>
            <a:endParaRPr lang="en-US" sz="13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011680"/>
            <a:ext cx="822960" cy="822960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017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Plotly?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05840"/>
            <a:ext cx="64008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005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D6E5"/>
                </a:solidFill>
              </a:rPr>
              <a:t>Plotly is an open-source Python library for creating interactive, publication-quality graphs and dashboards.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19659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659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Hover Effects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548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Reveal data on mouse hover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468880" y="1874520"/>
            <a:ext cx="19659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96596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Zoom &amp; Pan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57860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Explore any region of your chart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0" y="1874520"/>
            <a:ext cx="19659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659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064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Interactive Graphs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68172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Click, filter, and explore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675120" y="1874520"/>
            <a:ext cx="19659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9659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Dashboard Visuals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78484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Combine charts into dashboards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COMPARISON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65760" y="3657600"/>
            <a:ext cx="3931920" cy="914400"/>
          </a:xfrm>
          <a:prstGeom prst="rect">
            <a:avLst/>
          </a:prstGeom>
          <a:solidFill>
            <a:srgbClr val="1A0A0A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65760" y="3657600"/>
            <a:ext cx="3931920" cy="274320"/>
          </a:xfrm>
          <a:prstGeom prst="rect">
            <a:avLst/>
          </a:prstGeom>
          <a:solidFill>
            <a:srgbClr val="3B0A0A"/>
          </a:solidFill>
          <a:ln/>
        </p:spPr>
      </p:sp>
      <p:sp>
        <p:nvSpPr>
          <p:cNvPr id="28" name="Text 21"/>
          <p:cNvSpPr/>
          <p:nvPr/>
        </p:nvSpPr>
        <p:spPr>
          <a:xfrm>
            <a:off x="36576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65760" y="39502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</a:rPr>
              <a:t>Static charts · No interactivity · Export only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389120" y="4114800"/>
            <a:ext cx="4572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38912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892040" y="3657600"/>
            <a:ext cx="3886200" cy="914400"/>
          </a:xfrm>
          <a:prstGeom prst="rect">
            <a:avLst/>
          </a:prstGeom>
          <a:solidFill>
            <a:srgbClr val="0A1A0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892040" y="3657600"/>
            <a:ext cx="3886200" cy="274320"/>
          </a:xfrm>
          <a:prstGeom prst="rect">
            <a:avLst/>
          </a:prstGeom>
          <a:solidFill>
            <a:srgbClr val="0A2A0A"/>
          </a:solidFill>
          <a:ln/>
        </p:spPr>
      </p:sp>
      <p:sp>
        <p:nvSpPr>
          <p:cNvPr id="34" name="Text 27"/>
          <p:cNvSpPr/>
          <p:nvPr/>
        </p:nvSpPr>
        <p:spPr>
          <a:xfrm>
            <a:off x="4892040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Plotly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892040" y="39502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</a:rPr>
              <a:t>Interactive · Hover · Zoom · Pan ·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6B2FA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&amp; Setup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402336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5"/>
          <p:cNvSpPr/>
          <p:nvPr/>
        </p:nvSpPr>
        <p:spPr>
          <a:xfrm>
            <a:off x="530352" y="102412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02412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932688" y="102412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terminal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1389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plotly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pandas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but recommended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960120"/>
            <a:ext cx="402336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4"/>
          <p:cNvSpPr/>
          <p:nvPr/>
        </p:nvSpPr>
        <p:spPr>
          <a:xfrm>
            <a:off x="4919472" y="102412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5"/>
          <p:cNvSpPr/>
          <p:nvPr/>
        </p:nvSpPr>
        <p:spPr>
          <a:xfrm>
            <a:off x="5120640" y="102412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5321808" y="102412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python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plotly.express </a:t>
            </a:r>
            <a:pPr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400" b="1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plotly.graph_objects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2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2212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2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9B59D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9728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D4"/>
                </a:solidFill>
              </a:rPr>
              <a:t>Plotly Express  (px)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97280" y="3657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High-level API </a:t>
            </a:r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— create charts with a single function call.
</a:t>
            </a:r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Built on top of Plotly Graph Objects (go) for full control.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Perfect for beginners. </a:t>
            </a:r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Works with Pandas DataFrames natively.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Introduction — Iris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502920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960120"/>
            <a:ext cx="502920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5"/>
          <p:cNvSpPr/>
          <p:nvPr/>
        </p:nvSpPr>
        <p:spPr>
          <a:xfrm>
            <a:off x="530352" y="102412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02412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932688" y="102412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960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Load Iris Dataset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13898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4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.data.</a:t>
            </a:r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1764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</a:t>
            </a:r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2148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(df.shape)  </a:t>
            </a:r>
            <a:pPr indent="0" marL="0">
              <a:buNone/>
            </a:pPr>
            <a:r>
              <a:rPr lang="en-US" sz="1400" dirty="0">
                <a:solidFill>
                  <a:srgbClr val="555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(150, 6)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57784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COLUMNS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98448"/>
            <a:ext cx="320040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1298448"/>
            <a:ext cx="4572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sepal_length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22376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</a:rPr>
              <a:t>Length of sepal (cm)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77840" y="1627632"/>
            <a:ext cx="320040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0" y="1627632"/>
            <a:ext cx="45720" cy="274320"/>
          </a:xfrm>
          <a:prstGeom prst="rect">
            <a:avLst/>
          </a:prstGeom>
          <a:solidFill>
            <a:srgbClr val="9B59D4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sepal_width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2376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</a:rPr>
              <a:t>Width of sepal (cm)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77840" y="1956816"/>
            <a:ext cx="320040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0" y="1956816"/>
            <a:ext cx="457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0" y="1956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petal_length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23760" y="1956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</a:rPr>
              <a:t>Length of petal (cm)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577840" y="2286000"/>
            <a:ext cx="320040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286000"/>
            <a:ext cx="457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petal_width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22376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</a:rPr>
              <a:t>Width of petal (cm)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77840" y="2615184"/>
            <a:ext cx="320040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77840" y="2615184"/>
            <a:ext cx="45720" cy="2743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0" y="2615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223760" y="2615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</a:rPr>
              <a:t>Flower class (target)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2834640"/>
            <a:ext cx="841248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DATASET STATS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9436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</a:t>
            </a:r>
            <a:endParaRPr lang="en-US" sz="3600" dirty="0"/>
          </a:p>
        </p:txBody>
      </p:sp>
      <p:sp>
        <p:nvSpPr>
          <p:cNvPr id="39" name="Text 36"/>
          <p:cNvSpPr/>
          <p:nvPr/>
        </p:nvSpPr>
        <p:spPr>
          <a:xfrm>
            <a:off x="5943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5176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41" name="Text 38"/>
          <p:cNvSpPr/>
          <p:nvPr/>
        </p:nvSpPr>
        <p:spPr>
          <a:xfrm>
            <a:off x="26517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Columns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0916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43" name="Text 40"/>
          <p:cNvSpPr/>
          <p:nvPr/>
        </p:nvSpPr>
        <p:spPr>
          <a:xfrm>
            <a:off x="47091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Species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76656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600" dirty="0"/>
          </a:p>
        </p:txBody>
      </p:sp>
      <p:sp>
        <p:nvSpPr>
          <p:cNvPr id="45" name="Text 42"/>
          <p:cNvSpPr/>
          <p:nvPr/>
        </p:nvSpPr>
        <p:spPr>
          <a:xfrm>
            <a:off x="67665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E5"/>
                </a:solidFill>
              </a:rPr>
              <a:t>Rows / Species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Scatter Plot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0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57200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97840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97840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97840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scatter_plot.py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335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25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16093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18836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2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sepal_width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2157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2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sepal_length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432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706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25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Plot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29809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529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120640" y="86868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365760" y="4251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0160">
            <a:solidFill>
              <a:srgbClr val="0099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6E5"/>
                </a:solidFill>
              </a:rPr>
              <a:t>🔍  Hover for values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468880" y="4251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0160">
            <a:solidFill>
              <a:srgbClr val="0099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6888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6E5"/>
                </a:solidFill>
              </a:rPr>
              <a:t>⊕  Zoom in/out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0" y="4251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0160">
            <a:solidFill>
              <a:srgbClr val="0099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6E5"/>
                </a:solidFill>
              </a:rPr>
              <a:t>↔  Pan to explore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675120" y="4251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0160">
            <a:solidFill>
              <a:srgbClr val="0099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6E5"/>
                </a:solidFill>
              </a:rPr>
              <a:t>📸  Download PNG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B59D4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 &amp; Pie Charts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457200" cy="457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91440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896112"/>
            <a:ext cx="4389120" cy="25603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4"/>
          <p:cNvSpPr/>
          <p:nvPr/>
        </p:nvSpPr>
        <p:spPr>
          <a:xfrm>
            <a:off x="182880" y="896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BAR CHART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82880" y="1170432"/>
            <a:ext cx="4389120" cy="1874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82880" y="1170432"/>
            <a:ext cx="438912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7"/>
          <p:cNvSpPr/>
          <p:nvPr/>
        </p:nvSpPr>
        <p:spPr>
          <a:xfrm>
            <a:off x="329184" y="122529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8"/>
          <p:cNvSpPr/>
          <p:nvPr/>
        </p:nvSpPr>
        <p:spPr>
          <a:xfrm>
            <a:off x="512064" y="122529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9"/>
          <p:cNvSpPr/>
          <p:nvPr/>
        </p:nvSpPr>
        <p:spPr>
          <a:xfrm>
            <a:off x="694944" y="122529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0"/>
          <p:cNvSpPr/>
          <p:nvPr/>
        </p:nvSpPr>
        <p:spPr>
          <a:xfrm>
            <a:off x="347472" y="1508760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7472" y="1732788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7472" y="1956816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7472" y="2180844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petal_length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7472" y="2404872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7472" y="2628900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7472" y="2852928"/>
            <a:ext cx="4160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182880" y="3127248"/>
          <a:ext cx="43891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Shape 17"/>
          <p:cNvSpPr/>
          <p:nvPr/>
        </p:nvSpPr>
        <p:spPr>
          <a:xfrm>
            <a:off x="4754880" y="896112"/>
            <a:ext cx="4206240" cy="25603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3" name="Text 18"/>
          <p:cNvSpPr/>
          <p:nvPr/>
        </p:nvSpPr>
        <p:spPr>
          <a:xfrm>
            <a:off x="4754880" y="896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B59D4"/>
                </a:solidFill>
              </a:rPr>
              <a:t>PIE CHART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54880" y="1170432"/>
            <a:ext cx="4206240" cy="1874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4880" y="1170432"/>
            <a:ext cx="420624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1"/>
          <p:cNvSpPr/>
          <p:nvPr/>
        </p:nvSpPr>
        <p:spPr>
          <a:xfrm>
            <a:off x="4901184" y="122529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2"/>
          <p:cNvSpPr/>
          <p:nvPr/>
        </p:nvSpPr>
        <p:spPr>
          <a:xfrm>
            <a:off x="5084064" y="122529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3"/>
          <p:cNvSpPr/>
          <p:nvPr/>
        </p:nvSpPr>
        <p:spPr>
          <a:xfrm>
            <a:off x="5266944" y="122529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Text 24"/>
          <p:cNvSpPr/>
          <p:nvPr/>
        </p:nvSpPr>
        <p:spPr>
          <a:xfrm>
            <a:off x="4919472" y="1508760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919472" y="1732788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919472" y="1956816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919472" y="2180844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Species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919472" y="2404872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919472" y="2628900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919472" y="2852928"/>
            <a:ext cx="3931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graphicFrame>
        <p:nvGraphicFramePr>
          <p:cNvPr id="36" name="Chart 1" descr=""/>
          <p:cNvGraphicFramePr/>
          <p:nvPr/>
        </p:nvGraphicFramePr>
        <p:xfrm>
          <a:off x="4754880" y="3127248"/>
          <a:ext cx="4206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3200400" cy="3200400"/>
          </a:xfrm>
          <a:prstGeom prst="ellipse">
            <a:avLst/>
          </a:prstGeom>
          <a:solidFill>
            <a:srgbClr val="6B2FA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99C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Plotly is Useful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005840"/>
            <a:ext cx="4206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05840"/>
            <a:ext cx="420624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005840"/>
            <a:ext cx="54864" cy="182880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1005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Dashboards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Build full analytics dashboards with multiple charts and widgets — all interactive.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005840"/>
            <a:ext cx="4206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1005840"/>
            <a:ext cx="420624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2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9B59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972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1005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D4"/>
                </a:solidFill>
              </a:rPr>
              <a:t>Business Analytics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9204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Present KPIs, sales trends, and performance metrics with drill-down capability.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3017520"/>
            <a:ext cx="4206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3017520"/>
            <a:ext cx="420624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7"/>
          <p:cNvSpPr/>
          <p:nvPr/>
        </p:nvSpPr>
        <p:spPr>
          <a:xfrm>
            <a:off x="365760" y="301752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Data Science Projects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34747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Explore datasets visually — spot patterns, outliers, and correlations instantly.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754880" y="3017520"/>
            <a:ext cx="4206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2"/>
          <p:cNvSpPr/>
          <p:nvPr/>
        </p:nvSpPr>
        <p:spPr>
          <a:xfrm>
            <a:off x="4754880" y="3017520"/>
            <a:ext cx="54864" cy="1828800"/>
          </a:xfrm>
          <a:prstGeom prst="rect">
            <a:avLst/>
          </a:prstGeom>
          <a:solidFill>
            <a:srgbClr val="00FF8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0896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Interactive Reporting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892040" y="34747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</a:rPr>
              <a:t>Share HTML reports that clients can interact with — no extra software needed.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3" name="Text 26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D6E5"/>
                </a:solidFill>
              </a:rPr>
              <a:t>Used by Netflix  ·  NASA  ·  Uber  ·  Google  ·  and thousands of data scientists worldwide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&amp; Audience Interaction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9601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6B2FA0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0D4FF"/>
                </a:solidFill>
              </a:rPr>
              <a:t>▶  LIVE DEMO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196596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600200"/>
            <a:ext cx="19659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978408" y="1737360"/>
            <a:ext cx="731520" cy="731520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819656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2560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Hover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299923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</a:rPr>
              <a:t>Mouse over any data point to reveal exact values, labels, and metadata instantly.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468880" y="1600200"/>
            <a:ext cx="196596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68880" y="1600200"/>
            <a:ext cx="1965960" cy="54864"/>
          </a:xfrm>
          <a:prstGeom prst="rect">
            <a:avLst/>
          </a:prstGeom>
          <a:solidFill>
            <a:srgbClr val="9B59D4"/>
          </a:solidFill>
          <a:ln/>
        </p:spPr>
      </p:sp>
      <p:sp>
        <p:nvSpPr>
          <p:cNvPr id="16" name="Shape 12"/>
          <p:cNvSpPr/>
          <p:nvPr/>
        </p:nvSpPr>
        <p:spPr>
          <a:xfrm>
            <a:off x="3081528" y="1737360"/>
            <a:ext cx="731520" cy="731520"/>
          </a:xfrm>
          <a:prstGeom prst="ellipse">
            <a:avLst/>
          </a:prstGeom>
          <a:solidFill>
            <a:srgbClr val="9B59D4">
              <a:alpha val="2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81965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68880" y="2560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59D4"/>
                </a:solidFill>
              </a:rPr>
              <a:t>Zoom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560320" y="299923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</a:rPr>
              <a:t>Click and drag on any region to zoom into specific areas of your chart.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0" y="1600200"/>
            <a:ext cx="196596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0" y="16002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7"/>
          <p:cNvSpPr/>
          <p:nvPr/>
        </p:nvSpPr>
        <p:spPr>
          <a:xfrm>
            <a:off x="5184648" y="1737360"/>
            <a:ext cx="731520" cy="73152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1819656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0" y="2560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Pan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663440" y="299923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</a:rPr>
              <a:t>Hold and drag to pan across the chart and explore different regions.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675120" y="1600200"/>
            <a:ext cx="196596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75120" y="1600200"/>
            <a:ext cx="196596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8" name="Shape 22"/>
          <p:cNvSpPr/>
          <p:nvPr/>
        </p:nvSpPr>
        <p:spPr>
          <a:xfrm>
            <a:off x="7287768" y="1737360"/>
            <a:ext cx="731520" cy="731520"/>
          </a:xfrm>
          <a:prstGeom prst="ellipse">
            <a:avLst/>
          </a:prstGeom>
          <a:solidFill>
            <a:srgbClr val="00FF88">
              <a:alpha val="20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819656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675120" y="2560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</a:rPr>
              <a:t>Download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766560" y="299923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</a:rPr>
              <a:t>Export any chart as a PNG image with one click using the camera icon.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💻  Open your notebook and run the code — try hover, zoom, and pan on your own chart!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62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6B2FA0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99CC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6B2FA0">
              <a:alpha val="50000"/>
            </a:srgbClr>
          </a:solidFill>
          <a:ln w="19050">
            <a:solidFill>
              <a:srgbClr val="9B59D4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27" name="Shape 24"/>
          <p:cNvSpPr/>
          <p:nvPr/>
        </p:nvSpPr>
        <p:spPr>
          <a:xfrm>
            <a:off x="3200400" y="3218688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  ·  Questions Welcome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2743200" y="384048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0F2044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93192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291840" y="3840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Science Club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Interactive Data Visualization Workshop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Data Visualization using Plotly</dc:title>
  <dc:subject>PptxGenJS Presentation</dc:subject>
  <dc:creator>PptxGenJS</dc:creator>
  <cp:lastModifiedBy>PptxGenJS</cp:lastModifiedBy>
  <cp:revision>1</cp:revision>
  <dcterms:created xsi:type="dcterms:W3CDTF">2026-05-06T16:57:40Z</dcterms:created>
  <dcterms:modified xsi:type="dcterms:W3CDTF">2026-05-06T16:57:40Z</dcterms:modified>
</cp:coreProperties>
</file>